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EDCD7"/>
                </a:solidFill>
                <a:latin typeface="Aptos"/>
              </a:rPr>
              <a:t>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CF2FF"/>
                </a:solidFill>
                <a:latin typeface="Aptos"/>
              </a:rPr>
              <a:t>GOVERNANCE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BBEDC"/>
                </a:solidFill>
                <a:latin typeface="Aptos"/>
              </a:rPr>
              <a:t>Defining, monitoring, detecting, and responding to agent boundary violations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99232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26663"/>
            <a:ext cx="10789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DEFINE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2999232"/>
            <a:ext cx="1298448" cy="310896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3026663"/>
            <a:ext cx="129844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99923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3026663"/>
            <a:ext cx="1143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2999232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3026663"/>
            <a:ext cx="1325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RESPOND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914400"/>
            <a:ext cx="3840480" cy="452628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91440" cy="530352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463039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Agent Profile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55480" y="1892807"/>
            <a:ext cx="0" cy="228601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92440" y="214884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48840"/>
            <a:ext cx="91440" cy="530352"/>
          </a:xfrm>
          <a:prstGeom prst="rect">
            <a:avLst/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28600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Execution Monitor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5480" y="2715768"/>
            <a:ext cx="0" cy="228600"/>
          </a:xfrm>
          <a:prstGeom prst="line">
            <a:avLst/>
          </a:prstGeom>
          <a:ln w="25400">
            <a:solidFill>
              <a:srgbClr val="2D9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92440" y="297180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971800"/>
            <a:ext cx="91440" cy="530352"/>
          </a:xfrm>
          <a:prstGeom prst="rect">
            <a:avLst/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31089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Policy Engine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5480" y="3538728"/>
            <a:ext cx="0" cy="228600"/>
          </a:xfrm>
          <a:prstGeom prst="line">
            <a:avLst/>
          </a:prstGeom>
          <a:ln w="25400">
            <a:solidFill>
              <a:srgbClr val="935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92440" y="379476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794760"/>
            <a:ext cx="91440" cy="530352"/>
          </a:xfrm>
          <a:prstGeom prst="rect">
            <a:avLst/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9319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DB + SMTP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40096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Presented by: Your Name  |  Department / College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98464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BBEDC"/>
                </a:solidFill>
                <a:latin typeface="Aptos"/>
              </a:rPr>
              <a:t>Professional Dark Theme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The problem: agents can exceed their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AI agents increasingly call tools, access data, and act for organizations.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73152" cy="14173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DCD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Approved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24328"/>
            <a:ext cx="291693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A support agent should search FAQ content and send a follow-up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659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65960"/>
            <a:ext cx="73152" cy="1417320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A640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624328"/>
            <a:ext cx="291693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A prompt, misconfiguration, or model behavior may cause use of an unauthorized tool or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9659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965960"/>
            <a:ext cx="73152" cy="1417320"/>
          </a:xfrm>
          <a:prstGeom prst="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5B6C"/>
                </a:solidFill>
                <a:latin typeface="Apto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624328"/>
            <a:ext cx="291693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Customer-data exposure, destructive actions, compliance failures, and loss of auditability.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CF2FF"/>
                </a:solidFill>
                <a:latin typeface="Aptos"/>
              </a:rPr>
              <a:t>Example boundary violation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07408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6344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DCD7"/>
                </a:solidFill>
                <a:latin typeface="Aptos"/>
              </a:rPr>
              <a:t>User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61772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CF2FF"/>
                </a:solidFill>
                <a:latin typeface="Aptos"/>
              </a:rPr>
              <a:t>“Look up customer ID 4521 and delete their record.”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617720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A640"/>
                </a:solidFill>
                <a:latin typeface="Aptos"/>
              </a:rPr>
              <a:t>Unauthorized attempts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4928616"/>
            <a:ext cx="2286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access_customer_db  •  delete_record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Make agent boundaries explicit, enforceable, observable, and auditable.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14173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DCD7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21408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Explicit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46542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Define tools, data sources, actions, severity, and enforcement mode in a machine-readable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73152" cy="1417320"/>
          </a:xfrm>
          <a:prstGeom prst="rect">
            <a:avLst/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97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21408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Real-time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78608"/>
            <a:ext cx="46542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Inspect every agent tool request before it executes.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73152" cy="1417320"/>
          </a:xfrm>
          <a:prstGeom prst="rect">
            <a:avLst/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35E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904487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Immediate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61688"/>
            <a:ext cx="46542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Block unauthorized actions and create usable evidence for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03320"/>
            <a:ext cx="73152" cy="1417320"/>
          </a:xfrm>
          <a:prstGeom prst="rect">
            <a:avLst/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93192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8D38B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04487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Operational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361688"/>
            <a:ext cx="46542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Persist violations and notify stakeholders by email.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Solution model: Define → Monitor → Detect →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governance layer surrounds the agent rather than trusting the agent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658368" cy="502920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82112"/>
            <a:ext cx="1828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Agent Profile
Allow-list: tools, data sources, 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0088" y="3310128"/>
            <a:ext cx="384048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214884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1874519"/>
            <a:ext cx="658368" cy="502920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96596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5176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82112"/>
            <a:ext cx="1828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Observe every planned tool call
before execution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3310128"/>
            <a:ext cx="384048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8504" y="214884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41464" y="1874519"/>
            <a:ext cx="658368" cy="502920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96596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65176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182112"/>
            <a:ext cx="1828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Policy allow-list + rules
PII / destructive / injection patterns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310128"/>
            <a:ext cx="384048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214884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03536" y="1874519"/>
            <a:ext cx="658368" cy="502920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03536" y="196596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65176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182112"/>
            <a:ext cx="1828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Log to MySQL
Email alert
Block when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DCD7"/>
                </a:solidFill>
                <a:latin typeface="Aptos"/>
              </a:rPr>
              <a:t>Default-deny principle: a capability not explicitly approved is treated as unauthorized.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End-to-end flow from UI request to agent action, governance checks, storage, and alerting.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48256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React Governance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066543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BBEDC"/>
                </a:solidFill>
                <a:latin typeface="Aptos"/>
              </a:rPr>
              <a:t>Run prompts • view profile • inspect violations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578608"/>
            <a:ext cx="0" cy="329184"/>
          </a:xfrm>
          <a:prstGeom prst="line">
            <a:avLst/>
          </a:prstGeom>
          <a:ln w="25400">
            <a:solidFill>
              <a:srgbClr val="2D9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2971800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FastAPI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0954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BBEDC"/>
                </a:solidFill>
                <a:latin typeface="Aptos"/>
              </a:rPr>
              <a:t>POST /api/agents/run  •  governance orchestration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721608"/>
            <a:ext cx="0" cy="320040"/>
          </a:xfrm>
          <a:prstGeom prst="line">
            <a:avLst/>
          </a:prstGeom>
          <a:ln w="25400">
            <a:solidFill>
              <a:srgbClr val="935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4096512"/>
            <a:ext cx="2304288" cy="12984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96512"/>
            <a:ext cx="2304288" cy="82296"/>
          </a:xfrm>
          <a:prstGeom prst="rect">
            <a:avLst/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Agent 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1830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Identifies requested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38728" y="4096512"/>
            <a:ext cx="2304288" cy="12984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38728" y="4096512"/>
            <a:ext cx="2304288" cy="82296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435254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71830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Interception before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4096512"/>
            <a:ext cx="2304288" cy="12984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91656" y="4096512"/>
            <a:ext cx="2304288" cy="82296"/>
          </a:xfrm>
          <a:prstGeom prst="rect">
            <a:avLst/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435254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Policy +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471830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Allow-list and safety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44584" y="4096512"/>
            <a:ext cx="2304288" cy="12984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4584" y="4096512"/>
            <a:ext cx="2304288" cy="82296"/>
          </a:xfrm>
          <a:prstGeom prst="rect">
            <a:avLst/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3" y="435254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3" y="471830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DB, SMTP, blocking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17520" y="4736592"/>
            <a:ext cx="41148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70448" y="4736592"/>
            <a:ext cx="41148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23376" y="4736592"/>
            <a:ext cx="411479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96728" y="5422392"/>
            <a:ext cx="0" cy="292608"/>
          </a:xfrm>
          <a:prstGeom prst="line">
            <a:avLst/>
          </a:prstGeom>
          <a:ln w="25400">
            <a:solidFill>
              <a:srgbClr val="38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58200" y="579729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CF2FF"/>
                </a:solidFill>
                <a:latin typeface="Aptos"/>
              </a:rPr>
              <a:t>MySQL violations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579729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CF2FF"/>
                </a:solidFill>
                <a:latin typeface="Aptos"/>
              </a:rPr>
              <a:t>SMTP email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1 — Define: Agent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 YAML policy is the human-reviewable source of approved authority.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4892040" cy="3611880"/>
          </a:xfrm>
          <a:prstGeom prst="roundRect">
            <a:avLst>
              <a:gd name="adj" fmla="val 12000"/>
            </a:avLst>
          </a:prstGeom>
          <a:solidFill>
            <a:srgbClr val="050A14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43484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E8FF"/>
                </a:solidFill>
                <a:latin typeface="Consolas"/>
              </a:rPr>
              <a:t>agent_name: support_agent
approved_tools:
  - search_faq
  - send_email
approved_data_sources:
  - faq_knowledge_base
forbidden_by_default: true
default_severity: high
enforcement_mode: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901952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901952"/>
            <a:ext cx="73152" cy="1024128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2130552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DCD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103120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Pydantic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560320"/>
            <a:ext cx="4654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AgentProfile validates tool lists, severity, and enforcement mode when the YAML file is loaded.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255264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255264"/>
            <a:ext cx="73152" cy="1024128"/>
          </a:xfrm>
          <a:prstGeom prst="rect">
            <a:avLst/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4838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97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456432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Allow-list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913632"/>
            <a:ext cx="4654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is_tool_approved(tool_name) determines whether a requested tool has explicit permission.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608576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608576"/>
            <a:ext cx="73152" cy="1024128"/>
          </a:xfrm>
          <a:prstGeom prst="rect">
            <a:avLst/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4837176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35E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4809744"/>
            <a:ext cx="4178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Default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5266944"/>
            <a:ext cx="4654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With forbidden_by_default=true, unknown or unlisted capabilities become violations.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2 — Support agent and tool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All tools may exist in the environment; governance decides what may execute.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D38B"/>
                </a:solidFill>
                <a:latin typeface="Aptos"/>
              </a:rPr>
              <a:t>Approved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20640" cy="89611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896112"/>
          </a:xfrm>
          <a:prstGeom prst="rect">
            <a:avLst/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41448"/>
            <a:ext cx="41330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search_faq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98648"/>
            <a:ext cx="4608575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Read answers from FAQ knowledge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120640" cy="89611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73152" cy="896112"/>
          </a:xfrm>
          <a:prstGeom prst="rect">
            <a:avLst/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5760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30168"/>
            <a:ext cx="41330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send_email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087368"/>
            <a:ext cx="4608575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Send a customer follow-up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5B6C"/>
                </a:solidFill>
                <a:latin typeface="Aptos"/>
              </a:rPr>
              <a:t>Unapproved tools — intentionally present for demonstration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40280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240280"/>
            <a:ext cx="73152" cy="731520"/>
          </a:xfrm>
          <a:prstGeom prst="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46888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5B6C"/>
                </a:solidFill>
                <a:latin typeface="Aptos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2441448"/>
            <a:ext cx="41330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access_customer_db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898648"/>
            <a:ext cx="4608575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Customer information / PII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27832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27832"/>
            <a:ext cx="73152" cy="731520"/>
          </a:xfrm>
          <a:prstGeom prst="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456432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5B6C"/>
                </a:solidFill>
                <a:latin typeface="Aptos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429000"/>
            <a:ext cx="41330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execute_shell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886200"/>
            <a:ext cx="4608575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Potential server command execution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15384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215384"/>
            <a:ext cx="73152" cy="731520"/>
          </a:xfrm>
          <a:prstGeom prst="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44398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5B6C"/>
                </a:solidFill>
                <a:latin typeface="Aptos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4416552"/>
            <a:ext cx="41330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delete_record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873752"/>
            <a:ext cx="4608575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Destructive and irreversible data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EDCD7"/>
                </a:solidFill>
                <a:latin typeface="Aptos"/>
              </a:rPr>
              <a:t>Governance validates intent before tool execution — not merely after damage occurs.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3 — Monitor: pre-execution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callback acts as the enforcement point between an agent’s requested action and the tool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212848" cy="21031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7" y="201168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7" y="2112264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88920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Prompt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64408"/>
            <a:ext cx="18105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EDC"/>
                </a:solidFill>
                <a:latin typeface="Aptos"/>
              </a:rPr>
              <a:t>User request enters the agent runner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3383280"/>
            <a:ext cx="50292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40" y="2331720"/>
            <a:ext cx="2212848" cy="21031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0248" y="201168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2112264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788920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Tool requested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264408"/>
            <a:ext cx="18105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EDC"/>
                </a:solidFill>
                <a:latin typeface="Aptos"/>
              </a:rPr>
              <a:t>Runner identifies search_faq / DB / delete / shell intent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3383280"/>
            <a:ext cx="50292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2331720"/>
            <a:ext cx="2212848" cy="21031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04888" y="201168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2112264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788920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before_tool_call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264408"/>
            <a:ext cx="18105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EDC"/>
                </a:solidFill>
                <a:latin typeface="Aptos"/>
              </a:rPr>
              <a:t>Callback captures tool name, input, and session 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3383280"/>
            <a:ext cx="50292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2331720"/>
            <a:ext cx="2212848" cy="21031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39528" y="201168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2112264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788920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CF2FF"/>
                </a:solidFill>
                <a:latin typeface="Aptos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264408"/>
            <a:ext cx="18105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EDC"/>
                </a:solidFill>
                <a:latin typeface="Aptos"/>
              </a:rPr>
              <a:t>Allow and execute, or record a violation and block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5193792"/>
            <a:ext cx="10058400" cy="53035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367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CF2FF"/>
                </a:solidFill>
                <a:latin typeface="Aptos"/>
              </a:rPr>
              <a:t>Captured context: agent name • session ID • requested tool • input • matched rule • severity • block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4 — Detect: layered policy and safety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 tool can be denied because it is unapproved, unsafe, or both.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242316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EDCD7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Layer 1: profile allow-list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24328"/>
            <a:ext cx="291693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Compare requested tool to approved_tools. Example: access_customer_db is absent from the Support Agent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73152" cy="2423160"/>
          </a:xfrm>
          <a:prstGeom prst="rect">
            <a:avLst/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35E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Layer 2: rule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24328"/>
            <a:ext cx="291693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Flag destructive patterns such as DELETE FROM / DROP TABLE, and prompt-injection phrases.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65960"/>
            <a:ext cx="73152" cy="2423160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945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A640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67128"/>
            <a:ext cx="2441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Layer 3: context-aware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624328"/>
            <a:ext cx="291693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Optional future enhancement: LLM-as-judge for subtle misuse of otherwise-approved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956048"/>
            <a:ext cx="9692640" cy="676656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175504"/>
            <a:ext cx="9235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BBEDC"/>
                </a:solidFill>
                <a:latin typeface="Aptos"/>
              </a:rPr>
              <a:t>Violation record includes: tool_name • type • severity • description • timestamp • blocked • input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5 — Respond: log, alert, enforce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One confirmed violation drives three coordinated response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00400" cy="251460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82880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196596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1. Persist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Save the full violation to MySQL for audit and root-cause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200400" cy="251460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50992" y="182880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96596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@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2.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4612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Use SMTP to notify stakeholders immediately.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3200400" cy="251460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00032" y="182880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96596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50A14"/>
                </a:solidFill>
                <a:latin typeface="Aptos"/>
              </a:rPr>
              <a:t>!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CF2FF"/>
                </a:solidFill>
                <a:latin typeface="Aptos"/>
              </a:rPr>
              <a:t>3. Enforce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4612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EDC"/>
                </a:solidFill>
                <a:latin typeface="Aptos"/>
              </a:rPr>
              <a:t>Block the tool in block mode; alert-only and log-only remain configurable.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03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EDCD7"/>
                </a:solidFill>
                <a:latin typeface="Aptos"/>
              </a:rPr>
              <a:t>Enforcement modes:  block  |  alert_only  |  log_only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MySQL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Every violation becomes a structured evidence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64008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85416"/>
            <a:ext cx="49377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2057400"/>
            <a:ext cx="164592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185416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agent_name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057400"/>
            <a:ext cx="192024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185416"/>
            <a:ext cx="1773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tool_name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2057400"/>
            <a:ext cx="192024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2185416"/>
            <a:ext cx="1773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violation_type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79" y="2057400"/>
            <a:ext cx="109728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1" y="2185416"/>
            <a:ext cx="9509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severity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2057400"/>
            <a:ext cx="91440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1" y="2185416"/>
            <a:ext cx="768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blocked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59" y="2057400"/>
            <a:ext cx="2011680" cy="438912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1" y="2185416"/>
            <a:ext cx="18653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DCD7"/>
                </a:solidFill>
                <a:latin typeface="Aptos"/>
              </a:rPr>
              <a:t>detected_at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96312"/>
            <a:ext cx="6400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651760"/>
            <a:ext cx="5303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2496312"/>
            <a:ext cx="164592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2651760"/>
            <a:ext cx="15361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support_agent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2496312"/>
            <a:ext cx="192024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6664" y="2651760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access_customer_db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2496312"/>
            <a:ext cx="192024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3" y="2651760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5B6C"/>
                </a:solidFill>
                <a:latin typeface="Aptos"/>
              </a:rPr>
              <a:t>policy_breach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2496312"/>
            <a:ext cx="10972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3" y="2651760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59" y="2496312"/>
            <a:ext cx="91440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3" y="2651760"/>
            <a:ext cx="8046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5B6C"/>
                </a:solidFill>
                <a:latin typeface="Aptos"/>
              </a:rPr>
              <a:t>true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59" y="2496312"/>
            <a:ext cx="20116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4" y="2651760"/>
            <a:ext cx="19019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2026-08-20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026664"/>
            <a:ext cx="64008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3182112"/>
            <a:ext cx="5303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3026664"/>
            <a:ext cx="164592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0744" y="3182112"/>
            <a:ext cx="15361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support_agent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3026664"/>
            <a:ext cx="192024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26664" y="3182112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delete_record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3026664"/>
            <a:ext cx="192024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3" y="3182112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5B6C"/>
                </a:solidFill>
                <a:latin typeface="Aptos"/>
              </a:rPr>
              <a:t>policy_breach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79" y="3026664"/>
            <a:ext cx="109728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7143" y="3182112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59" y="3026664"/>
            <a:ext cx="91440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64423" y="3182112"/>
            <a:ext cx="8046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5B6C"/>
                </a:solidFill>
                <a:latin typeface="Aptos"/>
              </a:rPr>
              <a:t>true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59" y="3026664"/>
            <a:ext cx="2011680" cy="512064"/>
          </a:xfrm>
          <a:prstGeom prst="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78824" y="3182112"/>
            <a:ext cx="19019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2026-08-20 ...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3557015"/>
            <a:ext cx="6400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" y="3712463"/>
            <a:ext cx="5303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25880" y="3557015"/>
            <a:ext cx="164592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80744" y="3712463"/>
            <a:ext cx="15361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support_agent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3557015"/>
            <a:ext cx="192024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26664" y="3712463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search_faq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557015"/>
            <a:ext cx="192024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46903" y="3712463"/>
            <a:ext cx="1810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79" y="3557015"/>
            <a:ext cx="10972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67143" y="3712463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9559" y="3557015"/>
            <a:ext cx="91440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64423" y="3712463"/>
            <a:ext cx="8046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8D38B"/>
                </a:solidFill>
                <a:latin typeface="Aptos"/>
              </a:rPr>
              <a:t>false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23959" y="3557015"/>
            <a:ext cx="2011680" cy="512064"/>
          </a:xfrm>
          <a:prstGeom prst="rect">
            <a:avLst/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78824" y="3712463"/>
            <a:ext cx="19019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CF2FF"/>
                </a:solidFill>
                <a:latin typeface="Aptos"/>
              </a:rPr>
              <a:t>Not a violation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7280" y="4937760"/>
            <a:ext cx="9966960" cy="96012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7280" y="4937760"/>
            <a:ext cx="73152" cy="960120"/>
          </a:xfrm>
          <a:prstGeom prst="rect">
            <a:avLst/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53312" y="516636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97FF"/>
                </a:solidFill>
                <a:latin typeface="Aptos"/>
              </a:rPr>
              <a:t>DB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74519" y="5138928"/>
            <a:ext cx="8979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CF2FF"/>
                </a:solidFill>
                <a:latin typeface="Aptos"/>
              </a:rPr>
              <a:t>Purpose of persistence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53312" y="5596128"/>
            <a:ext cx="9454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EDC"/>
                </a:solidFill>
                <a:latin typeface="Aptos"/>
              </a:rPr>
              <a:t>Supports audit, incident response, compliance evidence, dashboards, filtering, and trend analysis.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SMTP alert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 high-severity policy breach triggers a stakeholder notification.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395728" cy="201168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4752" y="1828800"/>
            <a:ext cx="621792" cy="438912"/>
          </a:xfrm>
          <a:prstGeom prst="roundRect">
            <a:avLst>
              <a:gd name="adj" fmla="val 12000"/>
            </a:avLst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19385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CF2FF"/>
                </a:solidFill>
                <a:latin typeface="Aptos"/>
              </a:rPr>
              <a:t>Violation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access_customer_db requested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063240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2057400"/>
            <a:ext cx="2395728" cy="201168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1828800"/>
            <a:ext cx="621792" cy="438912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9385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6517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CF2FF"/>
                </a:solidFill>
                <a:latin typeface="Aptos"/>
              </a:rPr>
              <a:t>Response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127248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Formats alert with severity and 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9592" y="3063240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2057400"/>
            <a:ext cx="2395728" cy="201168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0336" y="1828800"/>
            <a:ext cx="621792" cy="438912"/>
          </a:xfrm>
          <a:prstGeom prst="roundRect">
            <a:avLst>
              <a:gd name="adj" fmla="val 12000"/>
            </a:avLst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9385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517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CF2FF"/>
                </a:solidFill>
                <a:latin typeface="Aptos"/>
              </a:rPr>
              <a:t>SMTP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127248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TLS / STARTTLS authentication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87384" y="3063240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6" y="2057400"/>
            <a:ext cx="2395728" cy="201168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68128" y="1828800"/>
            <a:ext cx="621792" cy="438912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19385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517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CF2FF"/>
                </a:solidFill>
                <a:latin typeface="Aptos"/>
              </a:rPr>
              <a:t>Stakeholder inbox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3127248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BBEDC"/>
                </a:solidFill>
                <a:latin typeface="Aptos"/>
              </a:rPr>
              <a:t>Governance or security team receives alert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800600"/>
            <a:ext cx="10149840" cy="822960"/>
          </a:xfrm>
          <a:prstGeom prst="roundRect">
            <a:avLst>
              <a:gd name="adj" fmla="val 12000"/>
            </a:avLst>
          </a:prstGeom>
          <a:solidFill>
            <a:srgbClr val="050A14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09320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DCD7"/>
                </a:solidFill>
                <a:latin typeface="Aptos"/>
              </a:rPr>
              <a:t>Alert content: agent • attempted tool • violation type • severity • description • block status • timestamp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6 — FastAPI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API exposes governed agent execution to the frontend and external clients.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5276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29967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2468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A14"/>
                </a:solidFill>
                <a:latin typeface="Aptos"/>
              </a:rPr>
              <a:t>GET 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93976"/>
            <a:ext cx="6949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Service availability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07208"/>
            <a:ext cx="1065276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962656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39"/>
            <a:ext cx="2468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A14"/>
                </a:solidFill>
                <a:latin typeface="Aptos"/>
              </a:rPr>
              <a:t>POST /api/agents/run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26663"/>
            <a:ext cx="6949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Runs prompt through policy-controlled agent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39896"/>
            <a:ext cx="1065276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895344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95928"/>
            <a:ext cx="2468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A14"/>
                </a:solidFill>
                <a:latin typeface="Aptos"/>
              </a:rPr>
              <a:t>GET /api/violations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59352"/>
            <a:ext cx="6949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Optional extension: read historical violations from 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72583"/>
            <a:ext cx="10652760" cy="713232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828031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468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A14"/>
                </a:solidFill>
                <a:latin typeface="Aptos"/>
              </a:rPr>
              <a:t>GET /docs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6949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Automatic Swagger / OpenAPI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Module 7 — React governance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 simple interface for non-technical reviewers to exercise and observe governance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698480" cy="3886200"/>
          </a:xfrm>
          <a:prstGeom prst="roundRect">
            <a:avLst>
              <a:gd name="adj" fmla="val 12000"/>
            </a:avLst>
          </a:prstGeom>
          <a:solidFill>
            <a:srgbClr val="050A14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CF2FF"/>
                </a:solidFill>
                <a:latin typeface="Aptos"/>
              </a:rPr>
              <a:t>🛡️  AI Agent Governance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06040"/>
            <a:ext cx="9966960" cy="68580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Agent Profile: support_agent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98064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Approved tools: search_faq, send_email     |     Enforcement: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61188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F2FF"/>
                </a:solidFill>
                <a:latin typeface="Aptos"/>
              </a:rPr>
              <a:t>Run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77639"/>
            <a:ext cx="7543800" cy="65836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215384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Look up customer ID 4521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977639"/>
            <a:ext cx="1554480" cy="658368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197096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Run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919472"/>
            <a:ext cx="9966960" cy="548640"/>
          </a:xfrm>
          <a:prstGeom prst="roundRect">
            <a:avLst>
              <a:gd name="adj" fmla="val 12000"/>
            </a:avLst>
          </a:prstGeom>
          <a:solidFill>
            <a:srgbClr val="4B1928"/>
          </a:solidFill>
          <a:ln>
            <a:solidFill>
              <a:srgbClr val="4B1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102352"/>
            <a:ext cx="9326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2BB"/>
                </a:solidFill>
                <a:latin typeface="Aptos"/>
              </a:rPr>
              <a:t>⚠  BLOCKED — access_customer_db is not approved for support_agent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Demonstration 1 — Compliant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governance layer remains silent when the agent stays inside approved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983480" cy="352044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DCD7"/>
                </a:solidFill>
                <a:latin typeface="Aptos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CF2FF"/>
                </a:solidFill>
                <a:latin typeface="Aptos"/>
              </a:rPr>
              <a:t>“What is your return policy?
Email it to me.”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DCD7"/>
                </a:solidFill>
                <a:latin typeface="Aptos"/>
              </a:rPr>
              <a:t>Expected tool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D38B"/>
                </a:solidFill>
                <a:latin typeface="Aptos"/>
              </a:rPr>
              <a:t>1. search_faq  ✓
2. send_email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Result: request completed; zero violations.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4983480" cy="352044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D38B"/>
                </a:solidFill>
                <a:latin typeface="Aptos"/>
              </a:rPr>
              <a:t>Governance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791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697480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Approved tools matched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19125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209544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No unsafe rule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033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721608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No MySQL violation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1538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233672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No SMTP alert dispatched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Demonstration 2 — Boundary violation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same agent attempts an unapproved capability and is stopped before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461826"/>
          </a:solidFill>
          <a:ln>
            <a:solidFill>
              <a:srgbClr val="46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BEC5"/>
                </a:solidFill>
                <a:latin typeface="Aptos"/>
              </a:rPr>
              <a:t>Prompt: “Look up customer ID 4521 and delete their record.”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27248"/>
            <a:ext cx="2267712" cy="14813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BBEDC"/>
                </a:solidFill>
                <a:latin typeface="Aptos"/>
              </a:rPr>
              <a:t>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822191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97FF"/>
                </a:solidFill>
                <a:latin typeface="Aptos"/>
              </a:rPr>
              <a:t>access_customer_db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0088" y="3867912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3127248"/>
            <a:ext cx="2267712" cy="14813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401568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BBEDC"/>
                </a:solidFill>
                <a:latin typeface="Aptos"/>
              </a:rPr>
              <a:t>Profile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822191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935EFF"/>
                </a:solidFill>
                <a:latin typeface="Aptos"/>
              </a:rPr>
              <a:t>Not approved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51576" y="3867912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08776" y="3127248"/>
            <a:ext cx="2267712" cy="14813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401568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BBEDC"/>
                </a:solidFill>
                <a:latin typeface="Aptos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3822191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A640"/>
                </a:solidFill>
                <a:latin typeface="Aptos"/>
              </a:rPr>
              <a:t>Log + alert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13064" y="3867912"/>
            <a:ext cx="393192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70264" y="3127248"/>
            <a:ext cx="2267712" cy="14813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3401568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BBEDC"/>
                </a:solidFill>
                <a:latin typeface="Aptos"/>
              </a:rPr>
              <a:t>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3822191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5B6C"/>
                </a:solidFill>
                <a:latin typeface="Aptos"/>
              </a:rPr>
              <a:t>BLOCK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5138928"/>
            <a:ext cx="9555480" cy="502920"/>
          </a:xfrm>
          <a:prstGeom prst="roundRect">
            <a:avLst>
              <a:gd name="adj" fmla="val 12000"/>
            </a:avLst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312664"/>
            <a:ext cx="9098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CF2FF"/>
                </a:solidFill>
                <a:latin typeface="Aptos"/>
              </a:rPr>
              <a:t>Evidence produced: violation row in MySQL + SMTP email alert + blocked status returned to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A lightweight local implementation designed for demonstration and extension.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52760" cy="6126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0240"/>
            <a:ext cx="1463040" cy="329184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02536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65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React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965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Interactive governance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10652760" cy="6126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743200"/>
            <a:ext cx="1463040" cy="329184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25496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8892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8892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REST API and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10652760" cy="6126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566160"/>
            <a:ext cx="1463040" cy="329184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48456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1188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Python + YAML + Pydantic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1188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Profiles, policy checks, response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51960"/>
            <a:ext cx="10652760" cy="6126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389120"/>
            <a:ext cx="1463040" cy="329184"/>
          </a:xfrm>
          <a:prstGeom prst="roundRect">
            <a:avLst>
              <a:gd name="adj" fmla="val 12000"/>
            </a:avLst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71416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43484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MySQL Connector/Python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4348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Violation audit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10652760" cy="61264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212080"/>
            <a:ext cx="1463040" cy="329184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94376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Alerting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25780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CF2FF"/>
                </a:solidFill>
                <a:latin typeface="Aptos"/>
              </a:rPr>
              <a:t>smtplib + SMTP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5780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EDC"/>
                </a:solidFill>
                <a:latin typeface="Aptos"/>
              </a:rPr>
              <a:t>Stakeholder email notification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Testing and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The project is validated through both positive and negative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DCD7"/>
                </a:solidFill>
                <a:latin typeface="Aptos"/>
              </a:rPr>
              <a:t>Functional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459736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Profile loads from YAML successfully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90087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27248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118104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Approved tool produces zero policy violations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48456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785616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776472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Unauthorized tool produces a high-severity violation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06824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443984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434840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Block mode prevents unauthorized tool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D38B"/>
                </a:solidFill>
                <a:latin typeface="Aptos"/>
              </a:rPr>
              <a:t>Operational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331720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468880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459736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Violation is persisted in 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90087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127248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118104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SMTP alert is dispatched to configured stakeholders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648456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785616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776472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API returns structured response and violation details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06824"/>
            <a:ext cx="4892040" cy="47548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3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443984"/>
            <a:ext cx="219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434840"/>
            <a:ext cx="3977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Dashboard visualizes completed vs blocked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DCD7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CF2FF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BBEDC"/>
                </a:solidFill>
                <a:latin typeface="Aptos"/>
              </a:rPr>
              <a:t>How this proof of concept can evolve into an enterprise governance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960120" cy="45720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856231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965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More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11095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Sales, HR, analytics, and admin agents with different approved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23744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642615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965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Fine-grained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97479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Restrict tool arguments, recipient domains, data fields, and action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10128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429000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11296"/>
            <a:ext cx="1965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Live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483864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WebSockets, real-time timeline, metrics, and trend dashboards.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96512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215384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1965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Advanced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70248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LLM-as-judge, anomaly detection, and semantic prompt-injection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82896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5001768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084064"/>
            <a:ext cx="1965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  <a:latin typeface="Aptos"/>
              </a:rPr>
              <a:t>Production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056632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CF2FF"/>
                </a:solidFill>
                <a:latin typeface="Aptos"/>
              </a:rPr>
              <a:t>Secrets management, RBAC, Docker deployment, rate limiting, and SIEM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DCD7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863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CF2FF"/>
                </a:solidFill>
                <a:latin typeface="Aptos"/>
              </a:rPr>
              <a:t>Govern AI agents by enforcing
what they are explicitly allowed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8036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BBEDC"/>
                </a:solidFill>
                <a:latin typeface="Aptos"/>
              </a:rPr>
              <a:t>The project demonstrates an end-to-end governance cycle: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42900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2EDCD7"/>
          </a:solidFill>
          <a:ln>
            <a:solidFill>
              <a:srgbClr val="2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593592"/>
            <a:ext cx="1600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DEFINE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3675887"/>
            <a:ext cx="22860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33472" y="342900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2D97FF"/>
          </a:solidFill>
          <a:ln>
            <a:solidFill>
              <a:srgbClr val="2D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3593592"/>
            <a:ext cx="1600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MONITOR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1960" y="3675887"/>
            <a:ext cx="22860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53712" y="342900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935EFF"/>
          </a:solidFill>
          <a:ln>
            <a:solidFill>
              <a:srgbClr val="93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593592"/>
            <a:ext cx="1600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DETECT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3675887"/>
            <a:ext cx="228600" cy="0"/>
          </a:xfrm>
          <a:prstGeom prst="line">
            <a:avLst/>
          </a:prstGeom>
          <a:ln w="25400">
            <a:solidFill>
              <a:srgbClr val="2E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73952" y="342900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38D38B"/>
          </a:solidFill>
          <a:ln>
            <a:solidFill>
              <a:srgbClr val="38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593592"/>
            <a:ext cx="1600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50A14"/>
                </a:solidFill>
                <a:latin typeface="Aptos"/>
              </a:rPr>
              <a:t>RESPOND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960120"/>
            <a:ext cx="3200400" cy="4251960"/>
          </a:xfrm>
          <a:prstGeom prst="roundRect">
            <a:avLst>
              <a:gd name="adj" fmla="val 12000"/>
            </a:avLst>
          </a:prstGeom>
          <a:solidFill>
            <a:srgbClr val="131F36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417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CF2FF"/>
                </a:solidFill>
                <a:latin typeface="Aptos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0574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08483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Approved actions proceed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243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51760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Unauthorized tools are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9125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218687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Violations are auditable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758183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8B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785615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CF2FF"/>
                </a:solidFill>
                <a:latin typeface="Aptos"/>
              </a:rPr>
              <a:t>Stakeholders are alerted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66928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CF2FF"/>
                </a:solidFill>
                <a:latin typeface="Aptos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BBED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BBEDC"/>
                </a:solidFill>
                <a:latin typeface="Aptos"/>
              </a:rPr>
              <a:t>AI Agent Governance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BBEDC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